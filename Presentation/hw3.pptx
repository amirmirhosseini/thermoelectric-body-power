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62" r:id="rId6"/>
    <p:sldId id="264" r:id="rId7"/>
    <p:sldId id="263" r:id="rId8"/>
    <p:sldId id="265" r:id="rId9"/>
    <p:sldId id="257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AE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FBA18-765D-40FE-926B-A3FF5981902D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FEAAF7-B4AE-422F-A22E-9394E6B2C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278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C116E-92BA-830A-84C1-0308C8355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60642F-7CA4-51C2-2541-6EE8C730AE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CB910-8E66-FD76-E28A-34A723F83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E7FA-FE1E-42CF-BC41-AFC9BD1367CE}" type="datetime1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F296F-5C2E-6CB7-530D-F845E8C4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7C25-C42A-0C05-5826-6822BB72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07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D48B4-39E2-1B2A-A99C-B960C4B49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24F81-6257-5825-DDDD-A2C0F8947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E250D-0E52-F7ED-D92A-DF8E9B0C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66CFE-C0AD-44CE-9EFA-6602E04C8E67}" type="datetime1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5461-482D-7F31-AC62-01AC7FE8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60761-C4D1-4106-06E5-41509250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484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DEF0-1995-D588-FDD6-4EA3914C0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88D7A-AB40-6851-C71E-D93A3B51A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264CD-4D4C-5B0C-7815-772036D71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ED88-19B9-4B43-8A77-72B2CE4F9AD8}" type="datetime1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6CDE-B7FF-3163-6970-5ED33626C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74288-2779-8CAE-F00D-F3408607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966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2C386-A4B3-E87A-F5E3-D1E25D3DB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DF8A7-119E-73DF-B598-3BFF7F654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23CF9-AD31-FF28-B6CF-19EBF8DDCA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61B5B-1B3D-E862-B67B-08F1649D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05D8-2AC9-4133-A03B-FB43BCE04D22}" type="datetime1">
              <a:rPr lang="en-GB" smtClean="0"/>
              <a:t>10/06/2024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6491A-5F32-C2CF-E36F-059125F30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6675A-4D1A-33B9-7B80-B3E351ED5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55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ACA3-18B3-30AC-DA06-B3D402573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6B47D-77AD-DB3C-A7A2-ADA8C92B9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29F8D-B5D2-E955-FBB4-14FF639C6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64970-A80D-C61C-42AF-2D8514D0D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DE3F6-9374-A4EF-F7AD-BAF93718F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FDAB4-D737-0D99-4F55-24FBACB43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DE40-BC65-4453-97B0-232DB8917C82}" type="datetime1">
              <a:rPr lang="en-GB" smtClean="0"/>
              <a:t>10/06/2024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7D87E-1832-A59B-389C-D690B27A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C2CD48-2350-702F-DF64-E49AAE362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2263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3CA0-0093-78D7-06DB-92A8D66C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05FEA-83D6-E9E2-572F-AFA93DE51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E830-2313-43A2-8A01-90CB77B8C189}" type="datetime1">
              <a:rPr lang="en-GB" smtClean="0"/>
              <a:t>10/06/2024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FF8E9B-D41F-4CFF-7894-F496EDF6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CD03C-F9F7-18C6-A2F7-8669311E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153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2268B-5891-D015-1857-F305EF079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4E0B-F4E5-4400-8465-B913AA80C874}" type="datetime1">
              <a:rPr lang="en-GB" smtClean="0"/>
              <a:t>10/06/2024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3B9FFB-3B6D-D280-5501-B785A374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BCAA4-FBED-63C9-16AA-835DEB97A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49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7585-A6A0-ECDB-02FC-25DBA4C52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68BC2-92D7-E0EB-1AAA-17DAE8FA2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8D900-039C-8568-073E-D60611C60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E76C4-F12E-ACA8-73DC-ACD14585A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CEEB0-3E63-4487-9059-5F794BF4ADCF}" type="datetime1">
              <a:rPr lang="en-GB" smtClean="0"/>
              <a:t>10/06/2024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F39E9-91F8-F342-7A07-29942CCB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41EA2-9A47-86DA-EF18-E7130A95C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8485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6E6F-F774-C2C8-EDA0-0761AEFD6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0C107-50F7-D2FA-7863-E673B82BF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80DB30-D3A3-7BE8-DA19-334AE405C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DC939-049B-7E47-D040-0B61BD5B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34D32-10B5-46C7-A43D-3A621CBA781E}" type="datetime1">
              <a:rPr lang="en-GB" smtClean="0"/>
              <a:t>10/06/2024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0B521-6CF3-356F-3AFB-B53EFB08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9FC06-17C2-5815-CF4A-26131B76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866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04662-BA28-7333-B249-A9E153AE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3E43B-D88E-6FC5-5F7F-3E9D5236E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23463-B298-51FE-7A1D-520F9426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77017-CB11-4960-A014-60D54DAA7DAA}" type="datetime1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D9D80-289F-22D7-BC61-72B12AE32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6DA42-991A-F563-D39A-5531F377F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122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599A17-E687-DA4A-C05E-EE779F38B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8C431-3A71-847A-386A-81B39B3BF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5F36F-860C-F9D4-E372-6A680210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FCF61-A82C-4686-B2FE-2851A9A2F36D}" type="datetime1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63D65-00F4-7B1C-C822-B3751C192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FCB30-1169-1EDC-5E04-35B01CF5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1038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5C7F0-8F92-A2B2-8437-DC8C9AABA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C5AE4-182B-CC18-38AB-D49A1DA615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C1670-67B8-1BD9-A4B8-E12711DA9D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227377-A254-4502-BC12-59C5E4E49624}" type="datetime1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0A81E-5121-1C2C-6BA4-F1AB0724C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3129A-43D7-EB3C-5479-107E89CB77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07B56D-5A70-49BC-BDE7-FA9F091E42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57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1C5D-A957-5962-B46A-1B516B4FF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060" y="1940136"/>
            <a:ext cx="9845879" cy="2387600"/>
          </a:xfrm>
        </p:spPr>
        <p:txBody>
          <a:bodyPr>
            <a:normAutofit/>
          </a:bodyPr>
          <a:lstStyle/>
          <a:p>
            <a:pPr rtl="1"/>
            <a:r>
              <a:rPr lang="fa-IR" sz="3600" dirty="0">
                <a:cs typeface="B Nazanin" panose="00000400000000000000" pitchFamily="2" charset="-78"/>
              </a:rPr>
              <a:t>بهره‌برداری از گرمای بدن برای تولید برق به روش ترموالکتریک</a:t>
            </a:r>
            <a:endParaRPr lang="en-GB" sz="3600" dirty="0">
              <a:cs typeface="B Nazanin" panose="000004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B0D184-436F-123E-53A4-0848064CB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97835"/>
            <a:ext cx="12192000" cy="2109832"/>
          </a:xfrm>
        </p:spPr>
        <p:txBody>
          <a:bodyPr>
            <a:noAutofit/>
          </a:bodyPr>
          <a:lstStyle/>
          <a:p>
            <a:pPr rtl="1"/>
            <a:r>
              <a:rPr lang="fa-IR" sz="3200" dirty="0">
                <a:cs typeface="B Nazanin" panose="00000400000000000000" pitchFamily="2" charset="-78"/>
              </a:rPr>
              <a:t>علی ‌فتوحی(81060۲۲۴۵)</a:t>
            </a:r>
          </a:p>
          <a:p>
            <a:pPr rtl="1"/>
            <a:r>
              <a:rPr lang="fa-IR" sz="3200" dirty="0">
                <a:cs typeface="B Nazanin" panose="00000400000000000000" pitchFamily="2" charset="-78"/>
              </a:rPr>
              <a:t>امیرمحمد میرحسینی(81060۲۲۶۵)</a:t>
            </a:r>
          </a:p>
          <a:p>
            <a:pPr rtl="1"/>
            <a:endParaRPr lang="fa-IR" sz="3200" dirty="0">
              <a:cs typeface="B Nazanin" panose="00000400000000000000" pitchFamily="2" charset="-78"/>
            </a:endParaRPr>
          </a:p>
          <a:p>
            <a:pPr rtl="1"/>
            <a:r>
              <a:rPr lang="fa-IR" sz="2800" dirty="0">
                <a:cs typeface="B Nazanin" panose="00000400000000000000" pitchFamily="2" charset="-78"/>
              </a:rPr>
              <a:t>۱۴۰۳/۰۳/۲۲</a:t>
            </a:r>
            <a:endParaRPr lang="en-US" sz="2800" dirty="0"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40BEF-1509-5D94-88E6-DB5C23E7D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395" y="155189"/>
            <a:ext cx="1807210" cy="299148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6C43744-36EB-5955-1114-8E97DAA76C2D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74F74B1-963A-C6C3-C808-FE05970A260C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35060D9E-D089-34DA-2A9D-A48314AD40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4245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5FE-8DAC-1DBF-6C02-B47942D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fa-IR" sz="3600" dirty="0">
                <a:solidFill>
                  <a:srgbClr val="0BAEDD"/>
                </a:solidFill>
                <a:cs typeface="B Nazanin" panose="00000400000000000000" pitchFamily="2" charset="-78"/>
              </a:rPr>
              <a:t>تاریخچه انرژی‌های پاک</a:t>
            </a:r>
            <a:endParaRPr lang="en-GB" sz="3600" dirty="0">
              <a:solidFill>
                <a:srgbClr val="0BAEDD"/>
              </a:solidFill>
              <a:cs typeface="B Nazanin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C44AE6-5F28-BB1A-3E85-0DBE446B1FBE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B9DC5D-62C2-86F0-62C6-B959B011358F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7B7C5A34-192C-3429-3A75-18937F20E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0297-AEC7-734D-C854-ACD591F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۱</a:t>
            </a:r>
            <a:endParaRPr lang="en-GB" sz="1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E716DC6-DEB2-23D9-F8A6-B252738007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/>
          <a:stretch/>
        </p:blipFill>
        <p:spPr bwMode="auto">
          <a:xfrm>
            <a:off x="513328" y="2139190"/>
            <a:ext cx="4823667" cy="361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ssil fuels kids">
            <a:extLst>
              <a:ext uri="{FF2B5EF4-FFF2-40B4-BE49-F238E27FC236}">
                <a16:creationId xmlns:a16="http://schemas.microsoft.com/office/drawing/2014/main" id="{59C2A7DC-7532-59C6-FA6A-1AFFE6105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133" y="2139191"/>
            <a:ext cx="4823667" cy="3617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91433999-22A7-6A6C-BEDC-7537CD095F87}"/>
              </a:ext>
            </a:extLst>
          </p:cNvPr>
          <p:cNvSpPr/>
          <p:nvPr/>
        </p:nvSpPr>
        <p:spPr>
          <a:xfrm flipH="1">
            <a:off x="5399114" y="3582098"/>
            <a:ext cx="1068900" cy="731934"/>
          </a:xfrm>
          <a:prstGeom prst="rightArrow">
            <a:avLst/>
          </a:prstGeom>
          <a:solidFill>
            <a:srgbClr val="0BAED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2FB17-3927-294E-6C0E-83341724E598}"/>
              </a:ext>
            </a:extLst>
          </p:cNvPr>
          <p:cNvSpPr txBox="1"/>
          <p:nvPr/>
        </p:nvSpPr>
        <p:spPr>
          <a:xfrm>
            <a:off x="513328" y="5791241"/>
            <a:ext cx="1155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carilec.org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686945-B095-0146-F8D8-874717412389}"/>
              </a:ext>
            </a:extLst>
          </p:cNvPr>
          <p:cNvSpPr txBox="1"/>
          <p:nvPr/>
        </p:nvSpPr>
        <p:spPr>
          <a:xfrm>
            <a:off x="6530133" y="5799955"/>
            <a:ext cx="1481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kids.earth.org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ACEAFF-113D-94A7-EF2D-44B86AFD2AEC}"/>
              </a:ext>
            </a:extLst>
          </p:cNvPr>
          <p:cNvSpPr txBox="1"/>
          <p:nvPr/>
        </p:nvSpPr>
        <p:spPr>
          <a:xfrm>
            <a:off x="1597280" y="1378465"/>
            <a:ext cx="8672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200" dirty="0">
                <a:cs typeface="B Nazanin" panose="00000400000000000000" pitchFamily="2" charset="-78"/>
              </a:rPr>
              <a:t>گذر از سوخت‌های فسیلی؛ پذیرش انرژی‌های پاک برای آینده‌ای سبز</a:t>
            </a:r>
            <a:endParaRPr lang="en-GB" sz="32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44191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5FE-8DAC-1DBF-6C02-B47942D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solidFill>
                  <a:srgbClr val="0BAEDD"/>
                </a:solidFill>
                <a:cs typeface="B Nazanin" panose="00000400000000000000" pitchFamily="2" charset="-78"/>
              </a:rPr>
              <a:t>اهداف وسیله</a:t>
            </a:r>
            <a:endParaRPr lang="en-GB" dirty="0">
              <a:solidFill>
                <a:srgbClr val="0BAEDD"/>
              </a:solidFill>
              <a:cs typeface="B Nazanin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C44AE6-5F28-BB1A-3E85-0DBE446B1FBE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B9DC5D-62C2-86F0-62C6-B959B011358F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7B7C5A34-192C-3429-3A75-18937F20E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0297-AEC7-734D-C854-ACD591F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sz="1800" dirty="0">
                <a:solidFill>
                  <a:schemeClr val="tx1"/>
                </a:solidFill>
                <a:latin typeface="۲Aptos (Body)"/>
                <a:cs typeface="B Nazanin" panose="00000400000000000000" pitchFamily="2" charset="-78"/>
              </a:rPr>
              <a:t>۲</a:t>
            </a:r>
            <a:endParaRPr lang="en-GB" sz="1800" dirty="0">
              <a:solidFill>
                <a:schemeClr val="tx1"/>
              </a:solidFill>
              <a:latin typeface="۲Aptos (Body)"/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8F0BE-FB3D-E6CC-8162-4DEFE35CB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29" y="3004069"/>
            <a:ext cx="2369859" cy="2931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84F201-C76C-4459-DA10-86165BCD4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186" y="3004069"/>
            <a:ext cx="2942251" cy="294225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D273A9-231F-D219-039D-794C68CDD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815" y="2992959"/>
            <a:ext cx="5100617" cy="29422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7B7CB4-9FCE-343C-A208-0A2BD4327563}"/>
              </a:ext>
            </a:extLst>
          </p:cNvPr>
          <p:cNvSpPr txBox="1"/>
          <p:nvPr/>
        </p:nvSpPr>
        <p:spPr>
          <a:xfrm>
            <a:off x="513328" y="5946649"/>
            <a:ext cx="1577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avazaman.com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DE88A3-FF12-CE70-A087-42B52CE5C3EE}"/>
              </a:ext>
            </a:extLst>
          </p:cNvPr>
          <p:cNvSpPr txBox="1"/>
          <p:nvPr/>
        </p:nvSpPr>
        <p:spPr>
          <a:xfrm>
            <a:off x="3417815" y="5930623"/>
            <a:ext cx="1608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citymagazine.si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0F10FD-8726-268B-A107-F5DE81C79B52}"/>
              </a:ext>
            </a:extLst>
          </p:cNvPr>
          <p:cNvSpPr txBox="1"/>
          <p:nvPr/>
        </p:nvSpPr>
        <p:spPr>
          <a:xfrm>
            <a:off x="9387913" y="5938618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emalls.ir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77CD21-A47C-F188-919B-CA11A2062814}"/>
              </a:ext>
            </a:extLst>
          </p:cNvPr>
          <p:cNvSpPr txBox="1"/>
          <p:nvPr/>
        </p:nvSpPr>
        <p:spPr>
          <a:xfrm>
            <a:off x="5127416" y="1550996"/>
            <a:ext cx="62263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کاهش وابستگی به منابع انرژی سنتی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پشتیبانی از دستگاه‌های الکترونیکی پوشیدنی</a:t>
            </a:r>
            <a:endParaRPr lang="en-GB" sz="32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899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5FE-8DAC-1DBF-6C02-B47942D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solidFill>
                  <a:srgbClr val="0BAEDD"/>
                </a:solidFill>
                <a:cs typeface="B Nazanin" panose="00000400000000000000" pitchFamily="2" charset="-78"/>
              </a:rPr>
              <a:t>سیستم‌های مشابه</a:t>
            </a:r>
            <a:endParaRPr lang="en-GB" dirty="0">
              <a:solidFill>
                <a:srgbClr val="0BAEDD"/>
              </a:solidFill>
              <a:cs typeface="B Nazanin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C44AE6-5F28-BB1A-3E85-0DBE446B1FBE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B9DC5D-62C2-86F0-62C6-B959B011358F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7B7C5A34-192C-3429-3A75-18937F20E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0297-AEC7-734D-C854-ACD591F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sz="1800" dirty="0">
                <a:solidFill>
                  <a:schemeClr val="tx1"/>
                </a:solidFill>
                <a:latin typeface="۲Aptos (Body)"/>
                <a:cs typeface="B Nazanin" panose="00000400000000000000" pitchFamily="2" charset="-78"/>
              </a:rPr>
              <a:t>۳</a:t>
            </a:r>
            <a:endParaRPr lang="en-GB" sz="1800" dirty="0">
              <a:solidFill>
                <a:schemeClr val="tx1"/>
              </a:solidFill>
              <a:latin typeface="۲Aptos (Body)"/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467767-BCDF-5BB2-4E3E-7E5E8CCA16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394" b="13016"/>
          <a:stretch/>
        </p:blipFill>
        <p:spPr>
          <a:xfrm>
            <a:off x="513328" y="2602172"/>
            <a:ext cx="3225282" cy="25670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47B0D43-DA42-DA4A-74FB-2678BF0E1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1954" y="2602170"/>
            <a:ext cx="3422708" cy="25670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69467B-F102-E235-AFD7-3C09860283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006" y="2602170"/>
            <a:ext cx="3823240" cy="25670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113472-E367-EBB8-EA01-BF9F13DB9A84}"/>
              </a:ext>
            </a:extLst>
          </p:cNvPr>
          <p:cNvSpPr txBox="1"/>
          <p:nvPr/>
        </p:nvSpPr>
        <p:spPr>
          <a:xfrm>
            <a:off x="513328" y="5169201"/>
            <a:ext cx="1238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scooteria.ir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F9722B-B485-E277-F200-6C45FB5050F7}"/>
              </a:ext>
            </a:extLst>
          </p:cNvPr>
          <p:cNvSpPr txBox="1"/>
          <p:nvPr/>
        </p:nvSpPr>
        <p:spPr>
          <a:xfrm>
            <a:off x="3986252" y="5169201"/>
            <a:ext cx="1481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hussellvs.best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C94C1A-D2D6-F6E7-5332-52531E45DA0F}"/>
              </a:ext>
            </a:extLst>
          </p:cNvPr>
          <p:cNvSpPr txBox="1"/>
          <p:nvPr/>
        </p:nvSpPr>
        <p:spPr>
          <a:xfrm>
            <a:off x="7648006" y="5169201"/>
            <a:ext cx="1510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muayene.com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52A40E-3BDB-145A-7DE0-D0D5E776AD91}"/>
              </a:ext>
            </a:extLst>
          </p:cNvPr>
          <p:cNvSpPr txBox="1"/>
          <p:nvPr/>
        </p:nvSpPr>
        <p:spPr>
          <a:xfrm>
            <a:off x="1023051" y="5456549"/>
            <a:ext cx="19062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پدال گاز ماشین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B6145C-2F41-FF48-C5D3-832F23E33111}"/>
              </a:ext>
            </a:extLst>
          </p:cNvPr>
          <p:cNvSpPr txBox="1"/>
          <p:nvPr/>
        </p:nvSpPr>
        <p:spPr>
          <a:xfrm>
            <a:off x="4582266" y="5456549"/>
            <a:ext cx="2222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سلول ترموالکتریک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300CEC-61CD-ED7B-C950-F524BA2F053F}"/>
              </a:ext>
            </a:extLst>
          </p:cNvPr>
          <p:cNvSpPr txBox="1"/>
          <p:nvPr/>
        </p:nvSpPr>
        <p:spPr>
          <a:xfrm>
            <a:off x="8456048" y="5456549"/>
            <a:ext cx="22028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سلول پیزوالکتریک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80813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5FE-8DAC-1DBF-6C02-B47942D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solidFill>
                  <a:srgbClr val="0BAEDD"/>
                </a:solidFill>
                <a:cs typeface="B Nazanin" panose="00000400000000000000" pitchFamily="2" charset="-78"/>
              </a:rPr>
              <a:t>اجزای دستگاه</a:t>
            </a:r>
            <a:endParaRPr lang="en-GB" dirty="0">
              <a:solidFill>
                <a:srgbClr val="0BAEDD"/>
              </a:solidFill>
              <a:cs typeface="B Nazanin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C44AE6-5F28-BB1A-3E85-0DBE446B1FBE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B9DC5D-62C2-86F0-62C6-B959B011358F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7B7C5A34-192C-3429-3A75-18937F20E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0297-AEC7-734D-C854-ACD591F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۴</a:t>
            </a:r>
            <a:endParaRPr lang="en-GB" sz="1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5" name="Picture 4" descr="A diagram of a heat exchanger&#10;&#10;Description automatically generated">
            <a:extLst>
              <a:ext uri="{FF2B5EF4-FFF2-40B4-BE49-F238E27FC236}">
                <a16:creationId xmlns:a16="http://schemas.microsoft.com/office/drawing/2014/main" id="{081424F4-0644-F093-4112-30D51864B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767" y="1701800"/>
            <a:ext cx="4889033" cy="3783100"/>
          </a:xfrm>
          <a:prstGeom prst="rect">
            <a:avLst/>
          </a:prstGeom>
        </p:spPr>
      </p:pic>
      <p:pic>
        <p:nvPicPr>
          <p:cNvPr id="10" name="Picture 9" descr="A diagram of a device with wires&#10;&#10;Description automatically generated">
            <a:extLst>
              <a:ext uri="{FF2B5EF4-FFF2-40B4-BE49-F238E27FC236}">
                <a16:creationId xmlns:a16="http://schemas.microsoft.com/office/drawing/2014/main" id="{A59D4BA8-055B-CC44-927F-66E4D5943C4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2"/>
          <a:stretch/>
        </p:blipFill>
        <p:spPr>
          <a:xfrm>
            <a:off x="513328" y="1690688"/>
            <a:ext cx="5317021" cy="3783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B225A7-147E-2840-8A3D-CD2FE5466E65}"/>
              </a:ext>
            </a:extLst>
          </p:cNvPr>
          <p:cNvSpPr txBox="1"/>
          <p:nvPr/>
        </p:nvSpPr>
        <p:spPr>
          <a:xfrm>
            <a:off x="7880796" y="5570865"/>
            <a:ext cx="20569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شماتیک ترموپیل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B9BEC4-24AE-ADE5-A57B-A5A9017475B3}"/>
              </a:ext>
            </a:extLst>
          </p:cNvPr>
          <p:cNvSpPr txBox="1"/>
          <p:nvPr/>
        </p:nvSpPr>
        <p:spPr>
          <a:xfrm>
            <a:off x="1859949" y="5570865"/>
            <a:ext cx="31582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شماتیک الکترونیک دستگاه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4131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FC44AE6-5F28-BB1A-3E85-0DBE446B1FBE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B9DC5D-62C2-86F0-62C6-B959B011358F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7B7C5A34-192C-3429-3A75-18937F20E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0297-AEC7-734D-C854-ACD591F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۶</a:t>
            </a:r>
            <a:endParaRPr lang="en-GB" sz="1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F80930-7F4C-1E8B-9414-1E256FCE5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3520" y="1384533"/>
            <a:ext cx="4374159" cy="43741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F295FE-8DAC-1DBF-6C02-B47942D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solidFill>
                  <a:srgbClr val="0BAEDD"/>
                </a:solidFill>
                <a:cs typeface="B Nazanin" panose="00000400000000000000" pitchFamily="2" charset="-78"/>
              </a:rPr>
              <a:t>نحوه عملکرد وسیله</a:t>
            </a:r>
            <a:endParaRPr lang="en-GB" dirty="0">
              <a:solidFill>
                <a:srgbClr val="0BAEDD"/>
              </a:solidFill>
              <a:cs typeface="B Nazanin" panose="00000400000000000000" pitchFamily="2" charset="-7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666A47-0027-7177-C52E-553BC0C2EE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36505" y="1384533"/>
            <a:ext cx="4374158" cy="43741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7577EA7-620B-C732-BA30-501AC05AB335}"/>
              </a:ext>
            </a:extLst>
          </p:cNvPr>
          <p:cNvSpPr txBox="1"/>
          <p:nvPr/>
        </p:nvSpPr>
        <p:spPr>
          <a:xfrm>
            <a:off x="6581339" y="5693991"/>
            <a:ext cx="4738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عملکرد ترموپیل به‌عنوان جزء اصلی وسیله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7B9CC8-B39B-2392-0343-6EEB04C443C4}"/>
              </a:ext>
            </a:extLst>
          </p:cNvPr>
          <p:cNvSpPr txBox="1"/>
          <p:nvPr/>
        </p:nvSpPr>
        <p:spPr>
          <a:xfrm>
            <a:off x="1452959" y="5693991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sz="2800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انتقال برق تولید ‌شده به ساعت</a:t>
            </a:r>
            <a:endParaRPr lang="en-GB" sz="2800" dirty="0"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7939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5FE-8DAC-1DBF-6C02-B47942D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solidFill>
                  <a:srgbClr val="0BAEDD"/>
                </a:solidFill>
                <a:cs typeface="B Nazanin" panose="00000400000000000000" pitchFamily="2" charset="-78"/>
              </a:rPr>
              <a:t>نقاط قوت و ضعف</a:t>
            </a:r>
            <a:endParaRPr lang="en-GB" dirty="0">
              <a:solidFill>
                <a:srgbClr val="0BAEDD"/>
              </a:solidFill>
              <a:cs typeface="B Nazanin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C44AE6-5F28-BB1A-3E85-0DBE446B1FBE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B9DC5D-62C2-86F0-62C6-B959B011358F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7B7C5A34-192C-3429-3A75-18937F20E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0297-AEC7-734D-C854-ACD591F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۵</a:t>
            </a:r>
            <a:endParaRPr lang="en-GB" sz="1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2B5FB-7496-8601-FA27-4AA6CD30BB68}"/>
              </a:ext>
            </a:extLst>
          </p:cNvPr>
          <p:cNvSpPr txBox="1"/>
          <p:nvPr/>
        </p:nvSpPr>
        <p:spPr>
          <a:xfrm>
            <a:off x="5970595" y="1550996"/>
            <a:ext cx="538320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مزایا</a:t>
            </a:r>
            <a:endParaRPr lang="en-GB" sz="3600" dirty="0">
              <a:cs typeface="B Nazanin" panose="00000400000000000000" pitchFamily="2" charset="-78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عدم نیاز به باتری یا شارژر‌های خارجی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عدم نیاز به قطعات حجیم و سنگین</a:t>
            </a:r>
            <a:endParaRPr lang="en-GB" sz="3200" dirty="0">
              <a:cs typeface="B Nazanin" panose="000004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73B548-42AC-4325-10E5-ED5CF02E8E92}"/>
              </a:ext>
            </a:extLst>
          </p:cNvPr>
          <p:cNvSpPr txBox="1"/>
          <p:nvPr/>
        </p:nvSpPr>
        <p:spPr>
          <a:xfrm>
            <a:off x="6704770" y="3948116"/>
            <a:ext cx="464903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معایب</a:t>
            </a:r>
            <a:endParaRPr lang="en-GB" sz="3600" dirty="0">
              <a:cs typeface="B Nazanin" panose="00000400000000000000" pitchFamily="2" charset="-78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نیازمندی به درجه حرارت معین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افت ولتاژ در مسیر انتقال حرارت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برق تولیدی کم</a:t>
            </a:r>
            <a:endParaRPr lang="en-GB" sz="3200" dirty="0">
              <a:cs typeface="B Nazanin" panose="00000400000000000000" pitchFamily="2" charset="-78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577688E-2732-B76F-AF38-A2E796046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183" y="1550996"/>
            <a:ext cx="2191476" cy="219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5A627C7-1313-9FC2-F030-F7EAE065C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183" y="3943459"/>
            <a:ext cx="2191476" cy="2191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407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5FE-8DAC-1DBF-6C02-B47942D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solidFill>
                  <a:srgbClr val="0BAEDD"/>
                </a:solidFill>
                <a:cs typeface="B Nazanin" panose="00000400000000000000" pitchFamily="2" charset="-78"/>
              </a:rPr>
              <a:t>نتیجه‌گیری و پیشنهادات</a:t>
            </a:r>
            <a:endParaRPr lang="en-GB" dirty="0">
              <a:solidFill>
                <a:srgbClr val="0BAEDD"/>
              </a:solidFill>
              <a:cs typeface="B Nazanin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C44AE6-5F28-BB1A-3E85-0DBE446B1FBE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B9DC5D-62C2-86F0-62C6-B959B011358F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7B7C5A34-192C-3429-3A75-18937F20E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0297-AEC7-734D-C854-ACD591F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۷</a:t>
            </a:r>
            <a:endParaRPr lang="en-GB" sz="1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sp>
        <p:nvSpPr>
          <p:cNvPr id="6" name="AutoShape 2" descr="Premium Photo | Direction concept">
            <a:extLst>
              <a:ext uri="{FF2B5EF4-FFF2-40B4-BE49-F238E27FC236}">
                <a16:creationId xmlns:a16="http://schemas.microsoft.com/office/drawing/2014/main" id="{93A8F3D5-D248-EE97-688A-24AE424952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6148" name="Picture 4" descr="Premium Photo | Direction concept">
            <a:extLst>
              <a:ext uri="{FF2B5EF4-FFF2-40B4-BE49-F238E27FC236}">
                <a16:creationId xmlns:a16="http://schemas.microsoft.com/office/drawing/2014/main" id="{99F01209-6F82-E2DC-1ADD-49BA292BC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64" y="2338801"/>
            <a:ext cx="4761384" cy="367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72B5FB-7496-8601-FA27-4AA6CD30BB68}"/>
              </a:ext>
            </a:extLst>
          </p:cNvPr>
          <p:cNvSpPr txBox="1"/>
          <p:nvPr/>
        </p:nvSpPr>
        <p:spPr>
          <a:xfrm>
            <a:off x="3061982" y="1857177"/>
            <a:ext cx="846798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توسعه مواد ترموالکتریک کارآمدتر</a:t>
            </a:r>
          </a:p>
          <a:p>
            <a:pPr marL="457200" indent="-457200" algn="just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ادغام وسیله با فناوری‌های</a:t>
            </a:r>
            <a:r>
              <a:rPr lang="en-GB" sz="3200" dirty="0">
                <a:cs typeface="B Nazanin" panose="00000400000000000000" pitchFamily="2" charset="-78"/>
              </a:rPr>
              <a:t> </a:t>
            </a:r>
            <a:r>
              <a:rPr lang="fa-IR" sz="3200" dirty="0">
                <a:cs typeface="B Nazanin" panose="00000400000000000000" pitchFamily="2" charset="-78"/>
              </a:rPr>
              <a:t>موجود</a:t>
            </a:r>
            <a:r>
              <a:rPr lang="en-GB" sz="3200" dirty="0">
                <a:cs typeface="B Nazanin" panose="00000400000000000000" pitchFamily="2" charset="-78"/>
              </a:rPr>
              <a:t> </a:t>
            </a:r>
            <a:r>
              <a:rPr lang="fa-IR" sz="3200" dirty="0">
                <a:cs typeface="B Nazanin" panose="00000400000000000000" pitchFamily="2" charset="-78"/>
              </a:rPr>
              <a:t>در بحث انرژی</a:t>
            </a:r>
            <a:endParaRPr lang="fa-IR" sz="3600" dirty="0">
              <a:cs typeface="B Nazanin" panose="00000400000000000000" pitchFamily="2" charset="-78"/>
            </a:endParaRPr>
          </a:p>
          <a:p>
            <a:pPr marL="457200" indent="-457200" algn="just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راهکار نوآورانه و پایدار برای تولید انرژی از منابع تجدیدپذیر</a:t>
            </a:r>
            <a:endParaRPr lang="fa-IR" sz="3600" dirty="0">
              <a:cs typeface="B Nazanin" panose="00000400000000000000" pitchFamily="2" charset="-78"/>
            </a:endParaRPr>
          </a:p>
          <a:p>
            <a:pPr marL="457200" indent="-457200" algn="just" rtl="1">
              <a:buFont typeface="Arial" panose="020B0604020202020204" pitchFamily="34" charset="0"/>
              <a:buChar char="•"/>
            </a:pPr>
            <a:r>
              <a:rPr lang="fa-IR" sz="3200" dirty="0">
                <a:cs typeface="B Nazanin" panose="00000400000000000000" pitchFamily="2" charset="-78"/>
              </a:rPr>
              <a:t>کاهش نیاز به باتری‌های قابل شارژ و بهبود بهره‌وری انرژی</a:t>
            </a:r>
            <a:endParaRPr lang="en-GB" sz="32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CDF774-E2FA-AB25-F936-EB8A2C71A43F}"/>
              </a:ext>
            </a:extLst>
          </p:cNvPr>
          <p:cNvSpPr txBox="1"/>
          <p:nvPr/>
        </p:nvSpPr>
        <p:spPr>
          <a:xfrm>
            <a:off x="838200" y="5624881"/>
            <a:ext cx="133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Freepik.com</a:t>
            </a:r>
          </a:p>
        </p:txBody>
      </p:sp>
    </p:spTree>
    <p:extLst>
      <p:ext uri="{BB962C8B-B14F-4D97-AF65-F5344CB8AC3E}">
        <p14:creationId xmlns:p14="http://schemas.microsoft.com/office/powerpoint/2010/main" val="249493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95FE-8DAC-1DBF-6C02-B47942DE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solidFill>
                  <a:srgbClr val="0BAEDD"/>
                </a:solidFill>
                <a:cs typeface="B Nazanin" panose="00000400000000000000" pitchFamily="2" charset="-78"/>
              </a:rPr>
              <a:t>حامیان</a:t>
            </a:r>
            <a:endParaRPr lang="en-GB" dirty="0">
              <a:solidFill>
                <a:srgbClr val="0BAEDD"/>
              </a:solidFill>
              <a:cs typeface="B Nazanin" panose="00000400000000000000" pitchFamily="2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351344-4A82-028F-7EE5-3D522826B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880" y="1984389"/>
            <a:ext cx="1194920" cy="1194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386DF0-5AC5-C61A-4027-0C0132CE2B7B}"/>
              </a:ext>
            </a:extLst>
          </p:cNvPr>
          <p:cNvSpPr txBox="1"/>
          <p:nvPr/>
        </p:nvSpPr>
        <p:spPr>
          <a:xfrm>
            <a:off x="3881284" y="2289461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دکتر </a:t>
            </a:r>
            <a:r>
              <a:rPr lang="fa-IR" altLang="en-US" sz="3200" dirty="0">
                <a:solidFill>
                  <a:prstClr val="black"/>
                </a:solidFill>
                <a:latin typeface="Calibri" panose="020F0502020204030204" pitchFamily="34" charset="0"/>
                <a:cs typeface="B Nazanin" panose="00000400000000000000" pitchFamily="2" charset="-78"/>
              </a:rPr>
              <a:t>م</a:t>
            </a:r>
            <a:r>
              <a:rPr kumimoji="0" lang="fa-I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قداد صفاری‌پور، دانشگاه تهران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B Nazanin" panose="000004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C44AE6-5F28-BB1A-3E85-0DBE446B1FBE}"/>
              </a:ext>
            </a:extLst>
          </p:cNvPr>
          <p:cNvGrpSpPr>
            <a:grpSpLocks/>
          </p:cNvGrpSpPr>
          <p:nvPr/>
        </p:nvGrpSpPr>
        <p:grpSpPr bwMode="auto">
          <a:xfrm>
            <a:off x="0" y="6345237"/>
            <a:ext cx="12192000" cy="512763"/>
            <a:chOff x="-1" y="6356350"/>
            <a:chExt cx="12192000" cy="51332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0B9DC5D-62C2-86F0-62C6-B959B011358F}"/>
                </a:ext>
              </a:extLst>
            </p:cNvPr>
            <p:cNvCxnSpPr/>
            <p:nvPr/>
          </p:nvCxnSpPr>
          <p:spPr>
            <a:xfrm>
              <a:off x="-1" y="6356350"/>
              <a:ext cx="12192000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7B7C5A34-192C-3429-3A75-18937F20EF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356350"/>
              <a:ext cx="513327" cy="513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AF0297-AEC7-734D-C854-ACD591F37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sz="1800" dirty="0">
                <a:solidFill>
                  <a:schemeClr val="tx1"/>
                </a:solidFill>
                <a:cs typeface="B Nazanin" panose="00000400000000000000" pitchFamily="2" charset="-78"/>
              </a:rPr>
              <a:t>۸</a:t>
            </a:r>
            <a:endParaRPr lang="en-GB" sz="1800" dirty="0">
              <a:solidFill>
                <a:schemeClr val="tx1"/>
              </a:solidFill>
              <a:cs typeface="B Nazanin" panose="00000400000000000000" pitchFamily="2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B553B6-A4B6-FF1C-79AC-B05F1A8FA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880" y="3316163"/>
            <a:ext cx="1194920" cy="11949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70BE32-AC0B-40DA-B289-97A2CBFB5DFE}"/>
              </a:ext>
            </a:extLst>
          </p:cNvPr>
          <p:cNvSpPr txBox="1"/>
          <p:nvPr/>
        </p:nvSpPr>
        <p:spPr>
          <a:xfrm>
            <a:off x="3881284" y="3621235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دکتر امیر نجات، دانشگاه تهران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B Nazanin" panose="00000400000000000000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37F97A-D753-FC4F-1BCC-B552FF00E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880" y="4647937"/>
            <a:ext cx="1194920" cy="1194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CDF08A-0568-6433-F64A-CD89AB572648}"/>
              </a:ext>
            </a:extLst>
          </p:cNvPr>
          <p:cNvSpPr txBox="1"/>
          <p:nvPr/>
        </p:nvSpPr>
        <p:spPr>
          <a:xfrm>
            <a:off x="3881284" y="4953009"/>
            <a:ext cx="6100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B Nazanin" panose="00000400000000000000" pitchFamily="2" charset="-78"/>
              </a:rPr>
              <a:t>دکتر مصطفی باغانی، دانشگاه تهران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049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5F5D-D84D-891D-D95E-08E912AE9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1530"/>
            <a:ext cx="10515600" cy="1325563"/>
          </a:xfrm>
        </p:spPr>
        <p:txBody>
          <a:bodyPr/>
          <a:lstStyle/>
          <a:p>
            <a:pPr algn="r" rtl="1"/>
            <a:r>
              <a:rPr lang="fa-IR" dirty="0">
                <a:latin typeface="مAptos Display (Headings)"/>
                <a:cs typeface="B Nazanin" panose="00000400000000000000" pitchFamily="2" charset="-78"/>
              </a:rPr>
              <a:t>متشکریم</a:t>
            </a:r>
            <a:endParaRPr lang="en-GB" dirty="0">
              <a:latin typeface="مAptos Display (Headings)"/>
              <a:cs typeface="B Nazanin" panose="00000400000000000000" pitchFamily="2" charset="-78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DAD2FC4-EF78-A67E-2B06-9737418E5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5780" y="1825625"/>
            <a:ext cx="5264020" cy="4351338"/>
          </a:xfrm>
        </p:spPr>
        <p:txBody>
          <a:bodyPr/>
          <a:lstStyle/>
          <a:p>
            <a:pPr marL="0" indent="0" algn="r" rtl="1">
              <a:buNone/>
            </a:pPr>
            <a:endParaRPr lang="fa-IR" dirty="0"/>
          </a:p>
          <a:p>
            <a:pPr marL="0" indent="0" algn="r" rtl="1">
              <a:buNone/>
            </a:pPr>
            <a:endParaRPr lang="fa-IR" dirty="0"/>
          </a:p>
          <a:p>
            <a:pPr marL="0" indent="0" algn="r" rtl="1" eaLnBrk="1" hangingPunct="1">
              <a:buNone/>
            </a:pPr>
            <a:r>
              <a:rPr lang="fa-IR" altLang="en-US" sz="3200" dirty="0">
                <a:cs typeface="B Nazanin" panose="00000400000000000000" pitchFamily="2" charset="-78"/>
              </a:rPr>
              <a:t>امیرمحمد میرحسینی</a:t>
            </a:r>
          </a:p>
          <a:p>
            <a:pPr marL="0" indent="0" algn="r" rtl="1" eaLnBrk="1" hangingPunct="1">
              <a:buNone/>
            </a:pPr>
            <a:r>
              <a:rPr lang="fa-IR" altLang="en-US" sz="2800" dirty="0">
                <a:cs typeface="B Nazanin" panose="00000400000000000000" pitchFamily="2" charset="-78"/>
              </a:rPr>
              <a:t>دانشجوی کارشناسی مهندسی مکانیک</a:t>
            </a:r>
          </a:p>
          <a:p>
            <a:pPr marL="0" indent="0" algn="r" rtl="1" eaLnBrk="1" hangingPunct="1">
              <a:buNone/>
            </a:pPr>
            <a:r>
              <a:rPr lang="fa-IR" altLang="en-US" sz="2800" dirty="0">
                <a:cs typeface="B Nazanin" panose="00000400000000000000" pitchFamily="2" charset="-78"/>
              </a:rPr>
              <a:t>دانشکده‌ی مهندسی مکانیک، دانشگاه تهران</a:t>
            </a:r>
          </a:p>
          <a:p>
            <a:pPr marL="0" indent="0" algn="r" rtl="1" eaLnBrk="1" hangingPunct="1">
              <a:buNone/>
            </a:pPr>
            <a:r>
              <a:rPr lang="fa-IR" altLang="en-US" sz="2800" dirty="0">
                <a:cs typeface="B Nazanin" panose="00000400000000000000" pitchFamily="2" charset="-78"/>
              </a:rPr>
              <a:t>تلفن: </a:t>
            </a:r>
            <a:r>
              <a:rPr lang="fa-IR" altLang="en-US" dirty="0">
                <a:cs typeface="B Nazanin" panose="00000400000000000000" pitchFamily="2" charset="-78"/>
              </a:rPr>
              <a:t>۰۹۱۴۰۷۳۲۳۹۳</a:t>
            </a:r>
            <a:endParaRPr lang="fa-IR" altLang="en-US" sz="2800" dirty="0">
              <a:cs typeface="B Nazanin" panose="00000400000000000000" pitchFamily="2" charset="-78"/>
            </a:endParaRPr>
          </a:p>
          <a:p>
            <a:pPr marL="0" indent="0" algn="r" rtl="1">
              <a:buNone/>
            </a:pPr>
            <a:r>
              <a:rPr lang="fa-IR" altLang="en-US" sz="2800" dirty="0">
                <a:cs typeface="B Nazanin" panose="00000400000000000000" pitchFamily="2" charset="-78"/>
              </a:rPr>
              <a:t>ایمیل: </a:t>
            </a:r>
            <a:r>
              <a:rPr lang="en-GB" alt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amir.mirhosseini@ut.ac.ir</a:t>
            </a:r>
            <a:endParaRPr lang="en-US" alt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334B27-E5DC-40D3-95EF-2C94925C0099}"/>
              </a:ext>
            </a:extLst>
          </p:cNvPr>
          <p:cNvSpPr txBox="1">
            <a:spLocks/>
          </p:cNvSpPr>
          <p:nvPr/>
        </p:nvSpPr>
        <p:spPr>
          <a:xfrm>
            <a:off x="6075806" y="1825625"/>
            <a:ext cx="52640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buFont typeface="Arial" panose="020B0604020202020204" pitchFamily="34" charset="0"/>
              <a:buNone/>
            </a:pPr>
            <a:endParaRPr lang="fa-IR" dirty="0"/>
          </a:p>
          <a:p>
            <a:pPr marL="0" indent="0" algn="r" rtl="1">
              <a:buFont typeface="Arial" panose="020B0604020202020204" pitchFamily="34" charset="0"/>
              <a:buNone/>
            </a:pPr>
            <a:endParaRPr lang="fa-IR" dirty="0"/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fa-IR" altLang="en-US" sz="3200" dirty="0">
                <a:cs typeface="B Nazanin" panose="00000400000000000000" pitchFamily="2" charset="-78"/>
              </a:rPr>
              <a:t>علی فتوحی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fa-IR" altLang="en-US" dirty="0">
                <a:cs typeface="B Nazanin" panose="00000400000000000000" pitchFamily="2" charset="-78"/>
              </a:rPr>
              <a:t>دانشجوی کارشناسی مهندسی مکانیک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fa-IR" altLang="en-US" dirty="0">
                <a:cs typeface="B Nazanin" panose="00000400000000000000" pitchFamily="2" charset="-78"/>
              </a:rPr>
              <a:t>دانشکده‌ی مهندسی مکانیک، دانشگاه تهران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fa-IR" altLang="en-US" dirty="0">
                <a:cs typeface="B Nazanin" panose="00000400000000000000" pitchFamily="2" charset="-78"/>
              </a:rPr>
              <a:t>تلفن: ۰۹۱۳۵۲۶۵۰۶۶</a:t>
            </a:r>
          </a:p>
          <a:p>
            <a:pPr marL="0" indent="0" algn="r" rtl="1">
              <a:buFont typeface="Arial" panose="020B0604020202020204" pitchFamily="34" charset="0"/>
              <a:buNone/>
            </a:pPr>
            <a:r>
              <a:rPr lang="fa-IR" altLang="en-US" dirty="0">
                <a:cs typeface="B Nazanin" panose="00000400000000000000" pitchFamily="2" charset="-78"/>
              </a:rPr>
              <a:t>ایمیل: </a:t>
            </a:r>
            <a:r>
              <a:rPr lang="en-GB" alt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ali.fotoohi.sh@ut.ac.ir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9819B7-DA03-6F96-F16A-187B66731AC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30"/>
          <a:stretch/>
        </p:blipFill>
        <p:spPr>
          <a:xfrm>
            <a:off x="7682961" y="272741"/>
            <a:ext cx="2007678" cy="1552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CEE436-AF25-B73F-75CC-FA260542F2B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069"/>
          <a:stretch/>
        </p:blipFill>
        <p:spPr>
          <a:xfrm>
            <a:off x="9483842" y="272741"/>
            <a:ext cx="2042061" cy="155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95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259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۲Aptos (Body)</vt:lpstr>
      <vt:lpstr>Aptos</vt:lpstr>
      <vt:lpstr>Aptos Display</vt:lpstr>
      <vt:lpstr>Arial</vt:lpstr>
      <vt:lpstr>B Nazanin</vt:lpstr>
      <vt:lpstr>Calibri</vt:lpstr>
      <vt:lpstr>مAptos Display (Headings)</vt:lpstr>
      <vt:lpstr>Office Theme</vt:lpstr>
      <vt:lpstr>بهره‌برداری از گرمای بدن برای تولید برق به روش ترموالکتریک</vt:lpstr>
      <vt:lpstr>تاریخچه انرژی‌های پاک</vt:lpstr>
      <vt:lpstr>اهداف وسیله</vt:lpstr>
      <vt:lpstr>سیستم‌های مشابه</vt:lpstr>
      <vt:lpstr>اجزای دستگاه</vt:lpstr>
      <vt:lpstr>نحوه عملکرد وسیله</vt:lpstr>
      <vt:lpstr>نقاط قوت و ضعف</vt:lpstr>
      <vt:lpstr>نتیجه‌گیری و پیشنهادات</vt:lpstr>
      <vt:lpstr>حامیان</vt:lpstr>
      <vt:lpstr>متشکریم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Mirhoseini</dc:creator>
  <cp:lastModifiedBy>Admin</cp:lastModifiedBy>
  <cp:revision>11</cp:revision>
  <dcterms:created xsi:type="dcterms:W3CDTF">2024-06-08T13:12:21Z</dcterms:created>
  <dcterms:modified xsi:type="dcterms:W3CDTF">2024-06-10T12:01:12Z</dcterms:modified>
</cp:coreProperties>
</file>